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9144000"/>
  <p:notesSz cx="6858000" cy="9144000"/>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59">
          <p15:clr>
            <a:srgbClr val="A4A3A4"/>
          </p15:clr>
        </p15:guide>
        <p15:guide id="2" pos="2880">
          <p15:clr>
            <a:srgbClr val="A4A3A4"/>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59"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descr="关系图"/>
          <p:cNvPicPr>
            <a:picLocks noChangeAspect="1"/>
          </p:cNvPicPr>
          <p:nvPr/>
        </p:nvPicPr>
        <p:blipFill>
          <a:blip r:embed="rId2"/>
          <a:srcRect r="2528" b="10909"/>
          <a:stretch>
            <a:fillRect/>
          </a:stretch>
        </p:blipFill>
        <p:spPr>
          <a:xfrm>
            <a:off x="179388" y="692150"/>
            <a:ext cx="8913812" cy="6110288"/>
          </a:xfrm>
          <a:prstGeom prst="rect">
            <a:avLst/>
          </a:prstGeom>
          <a:noFill/>
          <a:ln w="9525">
            <a:noFill/>
          </a:ln>
        </p:spPr>
      </p:pic>
      <p:sp>
        <p:nvSpPr>
          <p:cNvPr id="10" name="Rectangle 7"/>
          <p:cNvSpPr>
            <a:spLocks noChangeArrowheads="1"/>
          </p:cNvSpPr>
          <p:nvPr/>
        </p:nvSpPr>
        <p:spPr bwMode="auto">
          <a:xfrm>
            <a:off x="1588" y="549275"/>
            <a:ext cx="9144000" cy="151130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2051" name="Rectangle 3"/>
          <p:cNvSpPr>
            <a:spLocks noChangeArrowheads="1"/>
          </p:cNvSpPr>
          <p:nvPr>
            <p:ph type="subTitle" idx="1"/>
          </p:nvPr>
        </p:nvSpPr>
        <p:spPr>
          <a:xfrm>
            <a:off x="1908175" y="2492375"/>
            <a:ext cx="5545138" cy="1222375"/>
          </a:xfrm>
        </p:spPr>
        <p:txBody>
          <a:bodyPr anchor="ctr"/>
          <a:lstStyle>
            <a:lvl1pPr marL="0" indent="0" algn="ctr">
              <a:buFontTx/>
              <a:buNone/>
              <a:defRPr/>
            </a:lvl1pPr>
          </a:lstStyle>
          <a:p>
            <a:pPr lvl="0"/>
            <a:r>
              <a:rPr lang="en-US" altLang="zh-CN" noProof="0" smtClean="0"/>
              <a:t>Click to edit Master subtitle style</a:t>
            </a:r>
            <a:endParaRPr lang="en-US" altLang="zh-CN" noProof="0" smtClean="0"/>
          </a:p>
        </p:txBody>
      </p:sp>
      <p:sp>
        <p:nvSpPr>
          <p:cNvPr id="2056" name="Rectangle 8"/>
          <p:cNvSpPr>
            <a:spLocks noChangeArrowheads="1"/>
          </p:cNvSpPr>
          <p:nvPr>
            <p:ph type="ctrTitle"/>
          </p:nvPr>
        </p:nvSpPr>
        <p:spPr>
          <a:xfrm>
            <a:off x="755650" y="620713"/>
            <a:ext cx="7772400" cy="1470025"/>
          </a:xfrm>
        </p:spPr>
        <p:txBody>
          <a:bodyPr/>
          <a:lstStyle>
            <a:lvl1pPr>
              <a:defRPr sz="3600"/>
            </a:lvl1pPr>
          </a:lstStyle>
          <a:p>
            <a:pPr lvl="0"/>
            <a:r>
              <a:rPr lang="en-US" altLang="zh-CN" noProof="0" smtClean="0"/>
              <a:t>Click to edit Master title style</a:t>
            </a:r>
            <a:endParaRPr lang="en-US" altLang="zh-CN" noProof="0" smtClean="0"/>
          </a:p>
        </p:txBody>
      </p:sp>
      <p:sp>
        <p:nvSpPr>
          <p:cNvPr id="11" name="Rectangle 4"/>
          <p:cNvSpPr>
            <a:spLocks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5BCAD085-E8A6-8845-BD4E-CB4CCA059FC4}" type="datetimeFigureOut">
              <a:rPr lang="en-US" smtClean="0"/>
            </a:fld>
            <a:endParaRPr lang="en-US"/>
          </a:p>
        </p:txBody>
      </p:sp>
      <p:sp>
        <p:nvSpPr>
          <p:cNvPr id="12" name="Rectangle 5"/>
          <p:cNvSpPr>
            <a:spLocks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3" name="Rectangle 6"/>
          <p:cNvSpPr>
            <a:spLocks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C1FF6DA9-008F-8B48-92A6-B652298478BF}"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ppt_x</p:attrName>
                                        </p:attrNameLst>
                                      </p:cBhvr>
                                      <p:tavLst>
                                        <p:tav tm="0">
                                          <p:val>
                                            <p:strVal val="#ppt_x-.2"/>
                                          </p:val>
                                        </p:tav>
                                        <p:tav tm="100000">
                                          <p:val>
                                            <p:strVal val="#ppt_x"/>
                                          </p:val>
                                        </p:tav>
                                      </p:tavLst>
                                    </p:anim>
                                    <p:anim calcmode="lin" valueType="num">
                                      <p:cBhvr>
                                        <p:cTn id="8"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auto">
          <a:xfrm>
            <a:off x="1588" y="333375"/>
            <a:ext cx="9144000" cy="100965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pic>
        <p:nvPicPr>
          <p:cNvPr id="1027" name="Picture 3" descr="关系图"/>
          <p:cNvPicPr>
            <a:picLocks noChangeAspect="1"/>
          </p:cNvPicPr>
          <p:nvPr/>
        </p:nvPicPr>
        <p:blipFill>
          <a:blip r:embed="rId12"/>
          <a:srcRect t="1094" r="8122" b="13318"/>
          <a:stretch>
            <a:fillRect/>
          </a:stretch>
        </p:blipFill>
        <p:spPr>
          <a:xfrm>
            <a:off x="5797550" y="4438650"/>
            <a:ext cx="3340100" cy="2333625"/>
          </a:xfrm>
          <a:prstGeom prst="rect">
            <a:avLst/>
          </a:prstGeom>
          <a:noFill/>
          <a:ln w="9525">
            <a:noFill/>
          </a:ln>
        </p:spPr>
      </p:pic>
      <p:sp>
        <p:nvSpPr>
          <p:cNvPr id="1028" name="Rectangle 4"/>
          <p:cNvSpPr/>
          <p:nvPr>
            <p:ph type="title"/>
          </p:nvPr>
        </p:nvSpPr>
        <p:spPr>
          <a:xfrm>
            <a:off x="457200" y="274638"/>
            <a:ext cx="82296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5"/>
          <p:cNvSpPr/>
          <p:nvPr>
            <p:ph type="body" idx="1"/>
          </p:nvPr>
        </p:nvSpPr>
        <p:spPr>
          <a:xfrm>
            <a:off x="457200" y="1600200"/>
            <a:ext cx="82296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0" name="Rectangle 6"/>
          <p:cNvSpPr>
            <a:spLocks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5BCAD085-E8A6-8845-BD4E-CB4CCA059FC4}" type="datetimeFigureOut">
              <a:rPr lang="en-US" smtClean="0"/>
            </a:fld>
            <a:endParaRPr lang="en-US"/>
          </a:p>
        </p:txBody>
      </p:sp>
      <p:sp>
        <p:nvSpPr>
          <p:cNvPr id="1031" name="Rectangle 7"/>
          <p:cNvSpPr>
            <a:spLocks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2" name="Rectangle 8"/>
          <p:cNvSpPr>
            <a:spLocks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ppt_x</p:attrName>
                                        </p:attrNameLst>
                                      </p:cBhvr>
                                      <p:tavLst>
                                        <p:tav tm="0">
                                          <p:val>
                                            <p:strVal val="#ppt_x-.2"/>
                                          </p:val>
                                        </p:tav>
                                        <p:tav tm="100000">
                                          <p:val>
                                            <p:strVal val="#ppt_x"/>
                                          </p:val>
                                        </p:tav>
                                      </p:tavLst>
                                    </p:anim>
                                    <p:anim calcmode="lin" valueType="num">
                                      <p:cBhvr>
                                        <p:cTn id="8" dur="1000" fill="hold"/>
                                        <p:tgtEl>
                                          <p:spTgt spid="102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2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1028"/>
                                        </p:tgtEl>
                                        <p:attrNameLst>
                                          <p:attrName>style.visibility</p:attrName>
                                        </p:attrNameLst>
                                      </p:cBhvr>
                                      <p:to>
                                        <p:strVal val="visible"/>
                                      </p:to>
                                    </p:set>
                                    <p:anim calcmode="lin" valueType="num">
                                      <p:cBhvr>
                                        <p:cTn id="12" dur="1000" fill="hold"/>
                                        <p:tgtEl>
                                          <p:spTgt spid="1028"/>
                                        </p:tgtEl>
                                        <p:attrNameLst>
                                          <p:attrName>ppt_x</p:attrName>
                                        </p:attrNameLst>
                                      </p:cBhvr>
                                      <p:tavLst>
                                        <p:tav tm="0">
                                          <p:val>
                                            <p:strVal val="#ppt_x-.2"/>
                                          </p:val>
                                        </p:tav>
                                        <p:tav tm="100000">
                                          <p:val>
                                            <p:strVal val="#ppt_x"/>
                                          </p:val>
                                        </p:tav>
                                      </p:tavLst>
                                    </p:anim>
                                    <p:anim calcmode="lin" valueType="num">
                                      <p:cBhvr>
                                        <p:cTn id="13" dur="1000" fill="hold"/>
                                        <p:tgtEl>
                                          <p:spTgt spid="102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ldLvl="0" animBg="1"/>
      <p:bldP spid="1028" grpId="0" bldLvl="0"/>
    </p:bldLst>
  </p:timing>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jpe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8" name="Shape 2058"/>
        <p:cNvGrpSpPr/>
        <p:nvPr/>
      </p:nvGrpSpPr>
      <p:grpSpPr>
        <a:xfrm>
          <a:off x="0" y="0"/>
          <a:ext cx="0" cy="0"/>
          <a:chOff x="0" y="0"/>
          <a:chExt cx="0" cy="0"/>
        </a:xfrm>
      </p:grpSpPr>
      <p:sp>
        <p:nvSpPr>
          <p:cNvPr id="2059" name="Google Shape;2059;p1"/>
          <p:cNvSpPr txBox="1"/>
          <p:nvPr>
            <p:ph type="ctrTitle"/>
          </p:nvPr>
        </p:nvSpPr>
        <p:spPr>
          <a:xfrm>
            <a:off x="755650" y="620713"/>
            <a:ext cx="7772400" cy="1470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400">
                <a:latin typeface="Georgia"/>
                <a:ea typeface="Georgia"/>
                <a:cs typeface="Georgia"/>
                <a:sym typeface="Georgia"/>
              </a:rPr>
              <a:t>Company Profile</a:t>
            </a:r>
            <a:endParaRPr b="1" sz="4400">
              <a:latin typeface="Georgia"/>
              <a:ea typeface="Georgia"/>
              <a:cs typeface="Georgia"/>
              <a:sym typeface="Georgia"/>
            </a:endParaRPr>
          </a:p>
        </p:txBody>
      </p:sp>
      <p:sp>
        <p:nvSpPr>
          <p:cNvPr id="2060" name="Google Shape;2060;p1"/>
          <p:cNvSpPr txBox="1"/>
          <p:nvPr>
            <p:ph idx="1" type="subTitle"/>
          </p:nvPr>
        </p:nvSpPr>
        <p:spPr>
          <a:xfrm>
            <a:off x="316230" y="2492375"/>
            <a:ext cx="8645400" cy="1222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Georgia"/>
              <a:buNone/>
            </a:pPr>
            <a:r>
              <a:rPr lang="en-US">
                <a:latin typeface="Georgia"/>
                <a:ea typeface="Georgia"/>
                <a:cs typeface="Georgia"/>
                <a:sym typeface="Georgia"/>
              </a:rPr>
              <a:t>FiniteMax Integrated Services Limited</a:t>
            </a:r>
            <a:endParaRPr>
              <a:latin typeface="Georgia"/>
              <a:ea typeface="Georgia"/>
              <a:cs typeface="Georgia"/>
              <a:sym typeface="Georgia"/>
            </a:endParaRPr>
          </a:p>
          <a:p>
            <a:pPr indent="0" lvl="0" marL="0" rtl="0" algn="ctr">
              <a:spcBef>
                <a:spcPts val="640"/>
              </a:spcBef>
              <a:spcAft>
                <a:spcPts val="0"/>
              </a:spcAft>
              <a:buClr>
                <a:schemeClr val="dk1"/>
              </a:buClr>
              <a:buSzPts val="3200"/>
              <a:buFont typeface="Georgia"/>
              <a:buNone/>
            </a:pPr>
            <a:r>
              <a:rPr lang="en-US">
                <a:latin typeface="Georgia"/>
                <a:ea typeface="Georgia"/>
                <a:cs typeface="Georgia"/>
                <a:sym typeface="Georgia"/>
              </a:rPr>
              <a:t>RC Number: 1873183</a:t>
            </a:r>
            <a:endParaRPr>
              <a:latin typeface="Georgia"/>
              <a:ea typeface="Georgia"/>
              <a:cs typeface="Georgia"/>
              <a:sym typeface="Georgia"/>
            </a:endParaRPr>
          </a:p>
          <a:p>
            <a:pPr indent="0" lvl="0" marL="0" rtl="0" algn="ctr">
              <a:spcBef>
                <a:spcPts val="640"/>
              </a:spcBef>
              <a:spcAft>
                <a:spcPts val="0"/>
              </a:spcAft>
              <a:buClr>
                <a:schemeClr val="dk1"/>
              </a:buClr>
              <a:buSzPts val="3200"/>
              <a:buFont typeface="Georgia"/>
              <a:buNone/>
            </a:pPr>
            <a:r>
              <a:rPr lang="en-US">
                <a:latin typeface="Georgia"/>
                <a:ea typeface="Georgia"/>
                <a:cs typeface="Georgia"/>
                <a:sym typeface="Georgia"/>
              </a:rPr>
              <a:t>Bauchi State, Nigeria</a:t>
            </a:r>
            <a:endParaRPr>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latin typeface="Georgia" panose="02040502050405020303" charset="0"/>
                <a:cs typeface="Georgia" panose="02040502050405020303" charset="0"/>
              </a:rPr>
              <a:t>Introduction</a:t>
            </a:r>
            <a:endParaRPr b="1">
              <a:latin typeface="Georgia" panose="02040502050405020303" charset="0"/>
              <a:cs typeface="Georgia" panose="02040502050405020303" charset="0"/>
            </a:endParaRPr>
          </a:p>
        </p:txBody>
      </p:sp>
      <p:sp>
        <p:nvSpPr>
          <p:cNvPr id="3" name="Content Placeholder 2"/>
          <p:cNvSpPr>
            <a:spLocks noGrp="1"/>
          </p:cNvSpPr>
          <p:nvPr>
            <p:ph idx="1"/>
          </p:nvPr>
        </p:nvSpPr>
        <p:spPr/>
        <p:txBody>
          <a:bodyPr/>
          <a:lstStyle/>
          <a:p>
            <a:pPr marL="0" indent="0">
              <a:buNone/>
            </a:pPr>
            <a:r>
              <a:rPr>
                <a:latin typeface="Georgia" panose="02040502050405020303" charset="0"/>
                <a:cs typeface="Georgia" panose="02040502050405020303" charset="0"/>
              </a:rPr>
              <a:t>FiniteMax Integrated Services Limited is a dynamic and innovative company based in Bauchi State, Nigeria. We specialize in delivering comprehensive construction and consultancy services that empower clients to achieve operational excellence.</a:t>
            </a:r>
            <a:endParaRPr>
              <a:latin typeface="Georgia" panose="02040502050405020303" charset="0"/>
              <a:cs typeface="Georgia" panose="02040502050405020303"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latin typeface="Georgia" panose="02040502050405020303" charset="0"/>
                <a:cs typeface="Georgia" panose="02040502050405020303" charset="0"/>
              </a:rPr>
              <a:t>Mission Statement</a:t>
            </a:r>
            <a:endParaRPr b="1">
              <a:latin typeface="Georgia" panose="02040502050405020303" charset="0"/>
              <a:cs typeface="Georgia" panose="02040502050405020303" charset="0"/>
            </a:endParaRPr>
          </a:p>
        </p:txBody>
      </p:sp>
      <p:sp>
        <p:nvSpPr>
          <p:cNvPr id="3" name="Content Placeholder 2"/>
          <p:cNvSpPr>
            <a:spLocks noGrp="1"/>
          </p:cNvSpPr>
          <p:nvPr>
            <p:ph idx="1"/>
          </p:nvPr>
        </p:nvSpPr>
        <p:spPr/>
        <p:txBody>
          <a:bodyPr/>
          <a:lstStyle/>
          <a:p>
            <a:pPr marL="0" indent="0" algn="l">
              <a:buNone/>
            </a:pPr>
            <a:r>
              <a:rPr>
                <a:latin typeface="Georgia" panose="02040502050405020303" charset="0"/>
                <a:cs typeface="Georgia" panose="02040502050405020303" charset="0"/>
              </a:rPr>
              <a:t>FiniteMax Integrated Services Limited is committed to providing comprehensive and innovative solutions to our clients to maximize their operational efficiency, productivity, and growth. We strive to deliver exceptional services that exceed expectations and contribute to the success of our clients' businesses.</a:t>
            </a:r>
            <a:endParaRPr>
              <a:latin typeface="Georgia" panose="02040502050405020303" charset="0"/>
              <a:cs typeface="Georgia" panose="02040502050405020303"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latin typeface="Georgia" panose="02040502050405020303" charset="0"/>
                <a:cs typeface="Georgia" panose="02040502050405020303" charset="0"/>
              </a:rPr>
              <a:t>Services Offered</a:t>
            </a:r>
            <a:endParaRPr b="1">
              <a:latin typeface="Georgia" panose="02040502050405020303" charset="0"/>
              <a:cs typeface="Georgia" panose="02040502050405020303" charset="0"/>
            </a:endParaRPr>
          </a:p>
        </p:txBody>
      </p:sp>
      <p:sp>
        <p:nvSpPr>
          <p:cNvPr id="3" name="Content Placeholder 2"/>
          <p:cNvSpPr>
            <a:spLocks noGrp="1"/>
          </p:cNvSpPr>
          <p:nvPr>
            <p:ph idx="1"/>
          </p:nvPr>
        </p:nvSpPr>
        <p:spPr/>
        <p:txBody>
          <a:bodyPr/>
          <a:lstStyle/>
          <a:p>
            <a:pPr marL="457200" lvl="1" indent="457200">
              <a:buNone/>
            </a:pPr>
            <a:r>
              <a:rPr sz="2800">
                <a:latin typeface="Georgia" panose="02040502050405020303" charset="0"/>
                <a:cs typeface="Georgia" panose="02040502050405020303" charset="0"/>
              </a:rPr>
              <a:t>General Construction</a:t>
            </a:r>
            <a:endParaRPr sz="2800">
              <a:latin typeface="Georgia" panose="02040502050405020303" charset="0"/>
              <a:cs typeface="Georgia" panose="02040502050405020303" charset="0"/>
            </a:endParaRPr>
          </a:p>
          <a:p>
            <a:pPr marL="0" indent="0">
              <a:buNone/>
            </a:pPr>
            <a:endParaRPr sz="2800">
              <a:latin typeface="Georgia" panose="02040502050405020303" charset="0"/>
              <a:cs typeface="Georgia" panose="02040502050405020303" charset="0"/>
            </a:endParaRPr>
          </a:p>
          <a:p>
            <a:pPr marL="457200" lvl="1" indent="457200">
              <a:buNone/>
            </a:pPr>
            <a:r>
              <a:rPr sz="2800">
                <a:latin typeface="Georgia" panose="02040502050405020303" charset="0"/>
                <a:cs typeface="Georgia" panose="02040502050405020303" charset="0"/>
              </a:rPr>
              <a:t>Supply of All Kinds of Building Materials</a:t>
            </a:r>
            <a:endParaRPr sz="2800">
              <a:latin typeface="Georgia" panose="02040502050405020303" charset="0"/>
              <a:cs typeface="Georgia" panose="02040502050405020303" charset="0"/>
            </a:endParaRPr>
          </a:p>
          <a:p>
            <a:pPr marL="457200" lvl="1" indent="457200">
              <a:buNone/>
            </a:pPr>
            <a:endParaRPr sz="2800">
              <a:latin typeface="Georgia" panose="02040502050405020303" charset="0"/>
              <a:cs typeface="Georgia" panose="02040502050405020303" charset="0"/>
            </a:endParaRPr>
          </a:p>
          <a:p>
            <a:pPr marL="457200" lvl="1" indent="457200">
              <a:buNone/>
            </a:pPr>
            <a:r>
              <a:rPr sz="2800">
                <a:latin typeface="Georgia" panose="02040502050405020303" charset="0"/>
                <a:cs typeface="Georgia" panose="02040502050405020303" charset="0"/>
              </a:rPr>
              <a:t>Mineral Exploration &amp; Mining Consulting</a:t>
            </a:r>
            <a:endParaRPr sz="2800">
              <a:latin typeface="Georgia" panose="02040502050405020303" charset="0"/>
              <a:cs typeface="Georgia" panose="02040502050405020303" charset="0"/>
            </a:endParaRPr>
          </a:p>
          <a:p>
            <a:pPr marL="0" indent="0">
              <a:buNone/>
            </a:pPr>
            <a:endParaRPr sz="2800">
              <a:latin typeface="Georgia" panose="02040502050405020303" charset="0"/>
              <a:cs typeface="Georgia" panose="02040502050405020303" charset="0"/>
            </a:endParaRPr>
          </a:p>
          <a:p>
            <a:pPr marL="457200" lvl="1" indent="457200">
              <a:buNone/>
            </a:pPr>
            <a:r>
              <a:rPr sz="2800">
                <a:latin typeface="Georgia" panose="02040502050405020303" charset="0"/>
                <a:cs typeface="Georgia" panose="02040502050405020303" charset="0"/>
              </a:rPr>
              <a:t>Real Estate Development &amp; Management</a:t>
            </a:r>
            <a:endParaRPr sz="2800">
              <a:latin typeface="Georgia" panose="02040502050405020303" charset="0"/>
              <a:cs typeface="Georgia" panose="02040502050405020303" charset="0"/>
            </a:endParaRPr>
          </a:p>
          <a:p>
            <a:pPr marL="0" indent="0">
              <a:buNone/>
            </a:pPr>
            <a:endParaRPr sz="2800">
              <a:latin typeface="Georgia" panose="02040502050405020303" charset="0"/>
              <a:cs typeface="Georgia" panose="02040502050405020303" charset="0"/>
            </a:endParaRPr>
          </a:p>
          <a:p>
            <a:pPr marL="457200" lvl="1" indent="457200">
              <a:buNone/>
            </a:pPr>
            <a:r>
              <a:rPr sz="2800">
                <a:latin typeface="Georgia" panose="02040502050405020303" charset="0"/>
                <a:cs typeface="Georgia" panose="02040502050405020303" charset="0"/>
              </a:rPr>
              <a:t>Borehole Drilling &amp; Installation</a:t>
            </a:r>
            <a:endParaRPr sz="2800">
              <a:latin typeface="Georgia" panose="02040502050405020303" charset="0"/>
              <a:cs typeface="Georgia" panose="02040502050405020303" charset="0"/>
            </a:endParaRPr>
          </a:p>
        </p:txBody>
      </p:sp>
      <p:grpSp>
        <p:nvGrpSpPr>
          <p:cNvPr id="10" name="Group 9"/>
          <p:cNvGrpSpPr/>
          <p:nvPr/>
        </p:nvGrpSpPr>
        <p:grpSpPr>
          <a:xfrm>
            <a:off x="161925" y="1011555"/>
            <a:ext cx="1288415" cy="5396865"/>
            <a:chOff x="255" y="1593"/>
            <a:chExt cx="2029" cy="8499"/>
          </a:xfrm>
        </p:grpSpPr>
        <p:pic>
          <p:nvPicPr>
            <p:cNvPr id="4" name="Picture 3" descr="worker-of-construction-working-with-a-shovel-beside-material-pile"/>
            <p:cNvPicPr>
              <a:picLocks noChangeAspect="1"/>
            </p:cNvPicPr>
            <p:nvPr/>
          </p:nvPicPr>
          <p:blipFill>
            <a:blip r:embed="rId1"/>
            <a:stretch>
              <a:fillRect/>
            </a:stretch>
          </p:blipFill>
          <p:spPr>
            <a:xfrm>
              <a:off x="554" y="1593"/>
              <a:ext cx="1731" cy="1731"/>
            </a:xfrm>
            <a:prstGeom prst="rect">
              <a:avLst/>
            </a:prstGeom>
          </p:spPr>
        </p:pic>
        <p:pic>
          <p:nvPicPr>
            <p:cNvPr id="5" name="Picture 4" descr="loading"/>
            <p:cNvPicPr>
              <a:picLocks noChangeAspect="1"/>
            </p:cNvPicPr>
            <p:nvPr/>
          </p:nvPicPr>
          <p:blipFill>
            <a:blip r:embed="rId2"/>
            <a:stretch>
              <a:fillRect/>
            </a:stretch>
          </p:blipFill>
          <p:spPr>
            <a:xfrm>
              <a:off x="255" y="3324"/>
              <a:ext cx="1892" cy="1892"/>
            </a:xfrm>
            <a:prstGeom prst="rect">
              <a:avLst/>
            </a:prstGeom>
          </p:spPr>
        </p:pic>
        <p:pic>
          <p:nvPicPr>
            <p:cNvPr id="7" name="Picture 6" descr="cave"/>
            <p:cNvPicPr>
              <a:picLocks noChangeAspect="1"/>
            </p:cNvPicPr>
            <p:nvPr/>
          </p:nvPicPr>
          <p:blipFill>
            <a:blip r:embed="rId3"/>
            <a:stretch>
              <a:fillRect/>
            </a:stretch>
          </p:blipFill>
          <p:spPr>
            <a:xfrm>
              <a:off x="463" y="4998"/>
              <a:ext cx="1684" cy="1684"/>
            </a:xfrm>
            <a:prstGeom prst="rect">
              <a:avLst/>
            </a:prstGeom>
          </p:spPr>
        </p:pic>
        <p:pic>
          <p:nvPicPr>
            <p:cNvPr id="8" name="Picture 7" descr="water-well (1)"/>
            <p:cNvPicPr>
              <a:picLocks noChangeAspect="1"/>
            </p:cNvPicPr>
            <p:nvPr/>
          </p:nvPicPr>
          <p:blipFill>
            <a:blip r:embed="rId4"/>
            <a:stretch>
              <a:fillRect/>
            </a:stretch>
          </p:blipFill>
          <p:spPr>
            <a:xfrm>
              <a:off x="581" y="8526"/>
              <a:ext cx="1566" cy="1566"/>
            </a:xfrm>
            <a:prstGeom prst="rect">
              <a:avLst/>
            </a:prstGeom>
          </p:spPr>
        </p:pic>
        <p:pic>
          <p:nvPicPr>
            <p:cNvPr id="9" name="Picture 8" descr="construction"/>
            <p:cNvPicPr>
              <a:picLocks noChangeAspect="1"/>
            </p:cNvPicPr>
            <p:nvPr/>
          </p:nvPicPr>
          <p:blipFill>
            <a:blip r:embed="rId5"/>
            <a:stretch>
              <a:fillRect/>
            </a:stretch>
          </p:blipFill>
          <p:spPr>
            <a:xfrm>
              <a:off x="520" y="6790"/>
              <a:ext cx="1627" cy="1627"/>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latin typeface="Georgia" panose="02040502050405020303" charset="0"/>
                <a:cs typeface="Georgia" panose="02040502050405020303" charset="0"/>
              </a:rPr>
              <a:t>Target Market</a:t>
            </a:r>
            <a:endParaRPr b="1">
              <a:latin typeface="Georgia" panose="02040502050405020303" charset="0"/>
              <a:cs typeface="Georgia" panose="02040502050405020303" charset="0"/>
            </a:endParaRPr>
          </a:p>
        </p:txBody>
      </p:sp>
      <p:sp>
        <p:nvSpPr>
          <p:cNvPr id="3" name="Content Placeholder 2"/>
          <p:cNvSpPr>
            <a:spLocks noGrp="1"/>
          </p:cNvSpPr>
          <p:nvPr>
            <p:ph idx="1"/>
          </p:nvPr>
        </p:nvSpPr>
        <p:spPr/>
        <p:txBody>
          <a:bodyPr/>
          <a:lstStyle/>
          <a:p>
            <a:pPr marL="0" indent="0">
              <a:buNone/>
            </a:pPr>
            <a:r>
              <a:rPr>
                <a:latin typeface="Georgia" panose="02040502050405020303" charset="0"/>
                <a:cs typeface="Georgia" panose="02040502050405020303" charset="0"/>
              </a:rPr>
              <a:t>We serve individuals, businesses, and organizations seeking professional and reliable construction, supply, consultancy, and real estate services. Our ideal clients value quality, attention to detail, and personalized solutions tailored to their specific needs.</a:t>
            </a:r>
            <a:endParaRPr>
              <a:latin typeface="Georgia" panose="02040502050405020303" charset="0"/>
              <a:cs typeface="Georgia" panose="02040502050405020303"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latin typeface="Georgia" panose="02040502050405020303" charset="0"/>
                <a:cs typeface="Georgia" panose="02040502050405020303" charset="0"/>
              </a:rPr>
              <a:t>Company History</a:t>
            </a:r>
            <a:endParaRPr b="1">
              <a:latin typeface="Georgia" panose="02040502050405020303" charset="0"/>
              <a:cs typeface="Georgia" panose="02040502050405020303" charset="0"/>
            </a:endParaRPr>
          </a:p>
        </p:txBody>
      </p:sp>
      <p:sp>
        <p:nvSpPr>
          <p:cNvPr id="3" name="Content Placeholder 2"/>
          <p:cNvSpPr>
            <a:spLocks noGrp="1"/>
          </p:cNvSpPr>
          <p:nvPr>
            <p:ph idx="1"/>
          </p:nvPr>
        </p:nvSpPr>
        <p:spPr/>
        <p:txBody>
          <a:bodyPr/>
          <a:lstStyle/>
          <a:p>
            <a:pPr marL="0" indent="0">
              <a:buNone/>
            </a:pPr>
            <a:r>
              <a:rPr>
                <a:latin typeface="Georgia" panose="02040502050405020303" charset="0"/>
                <a:cs typeface="Georgia" panose="02040502050405020303" charset="0"/>
              </a:rPr>
              <a:t>Founded in December 2021, FiniteMax Integrated Services Limited is driven by a vision to exceed expectations in all aspects of our services. Our goal is to provide exceptional solutions and deliver results that surpass our clients' anticipations. With a commitment to excellence, we are dedicated to setting new standards of quality and customer satisfaction in the industry.</a:t>
            </a:r>
            <a:endParaRPr>
              <a:latin typeface="Georgia" panose="02040502050405020303" charset="0"/>
              <a:cs typeface="Georgia" panose="02040502050405020303"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latin typeface="Georgia" panose="02040502050405020303" charset="0"/>
                <a:cs typeface="Georgia" panose="02040502050405020303" charset="0"/>
              </a:rPr>
              <a:t>Vision</a:t>
            </a:r>
            <a:endParaRPr b="1">
              <a:latin typeface="Georgia" panose="02040502050405020303" charset="0"/>
              <a:cs typeface="Georgia" panose="02040502050405020303" charset="0"/>
            </a:endParaRPr>
          </a:p>
        </p:txBody>
      </p:sp>
      <p:sp>
        <p:nvSpPr>
          <p:cNvPr id="3" name="Content Placeholder 2"/>
          <p:cNvSpPr>
            <a:spLocks noGrp="1"/>
          </p:cNvSpPr>
          <p:nvPr>
            <p:ph idx="1"/>
          </p:nvPr>
        </p:nvSpPr>
        <p:spPr/>
        <p:txBody>
          <a:bodyPr/>
          <a:lstStyle/>
          <a:p>
            <a:pPr marL="0" indent="0">
              <a:buNone/>
            </a:pPr>
            <a:r>
              <a:rPr>
                <a:latin typeface="Georgia" panose="02040502050405020303" charset="0"/>
                <a:cs typeface="Georgia" panose="02040502050405020303" charset="0"/>
              </a:rPr>
              <a:t>To be recognized as a leading provider of integrated services within our industry.</a:t>
            </a:r>
            <a:endParaRPr>
              <a:latin typeface="Georgia" panose="02040502050405020303" charset="0"/>
              <a:cs typeface="Georgia" panose="02040502050405020303"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latin typeface="Georgia" panose="02040502050405020303" charset="0"/>
                <a:cs typeface="Georgia" panose="02040502050405020303" charset="0"/>
              </a:rPr>
              <a:t>Core Values</a:t>
            </a:r>
            <a:endParaRPr b="1">
              <a:latin typeface="Georgia" panose="02040502050405020303" charset="0"/>
              <a:cs typeface="Georgia" panose="02040502050405020303" charset="0"/>
            </a:endParaRPr>
          </a:p>
        </p:txBody>
      </p:sp>
      <p:sp>
        <p:nvSpPr>
          <p:cNvPr id="3" name="Content Placeholder 2"/>
          <p:cNvSpPr>
            <a:spLocks noGrp="1"/>
          </p:cNvSpPr>
          <p:nvPr>
            <p:ph idx="1"/>
          </p:nvPr>
        </p:nvSpPr>
        <p:spPr/>
        <p:txBody>
          <a:bodyPr/>
          <a:lstStyle/>
          <a:p>
            <a:r>
              <a:rPr>
                <a:latin typeface="Georgia" panose="02040502050405020303" charset="0"/>
                <a:cs typeface="Georgia" panose="02040502050405020303" charset="0"/>
              </a:rPr>
              <a:t>Expertise and Experience</a:t>
            </a:r>
            <a:endParaRPr>
              <a:latin typeface="Georgia" panose="02040502050405020303" charset="0"/>
              <a:cs typeface="Georgia" panose="02040502050405020303" charset="0"/>
            </a:endParaRPr>
          </a:p>
          <a:p>
            <a:r>
              <a:rPr>
                <a:latin typeface="Georgia" panose="02040502050405020303" charset="0"/>
                <a:cs typeface="Georgia" panose="02040502050405020303" charset="0"/>
              </a:rPr>
              <a:t>Quality and Excellence</a:t>
            </a:r>
            <a:endParaRPr>
              <a:latin typeface="Georgia" panose="02040502050405020303" charset="0"/>
              <a:cs typeface="Georgia" panose="02040502050405020303" charset="0"/>
            </a:endParaRPr>
          </a:p>
          <a:p>
            <a:r>
              <a:rPr>
                <a:latin typeface="Georgia" panose="02040502050405020303" charset="0"/>
                <a:cs typeface="Georgia" panose="02040502050405020303" charset="0"/>
              </a:rPr>
              <a:t>Client-Centric Approach</a:t>
            </a:r>
            <a:endParaRPr>
              <a:latin typeface="Georgia" panose="02040502050405020303" charset="0"/>
              <a:cs typeface="Georgia" panose="02040502050405020303" charset="0"/>
            </a:endParaRPr>
          </a:p>
          <a:p>
            <a:r>
              <a:rPr>
                <a:latin typeface="Georgia" panose="02040502050405020303" charset="0"/>
                <a:cs typeface="Georgia" panose="02040502050405020303" charset="0"/>
              </a:rPr>
              <a:t>Reliability and Timeliness</a:t>
            </a:r>
            <a:endParaRPr>
              <a:latin typeface="Georgia" panose="02040502050405020303" charset="0"/>
              <a:cs typeface="Georgia" panose="02040502050405020303" charset="0"/>
            </a:endParaRPr>
          </a:p>
          <a:p>
            <a:r>
              <a:rPr>
                <a:latin typeface="Georgia" panose="02040502050405020303" charset="0"/>
                <a:cs typeface="Georgia" panose="02040502050405020303" charset="0"/>
              </a:rPr>
              <a:t>Comprehensive Services</a:t>
            </a:r>
            <a:endParaRPr>
              <a:latin typeface="Georgia" panose="02040502050405020303" charset="0"/>
              <a:cs typeface="Georgia" panose="02040502050405020303"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latin typeface="Georgia" panose="02040502050405020303" charset="0"/>
                <a:cs typeface="Georgia" panose="02040502050405020303" charset="0"/>
              </a:rPr>
              <a:t>Achievements</a:t>
            </a:r>
            <a:endParaRPr b="1">
              <a:latin typeface="Georgia" panose="02040502050405020303" charset="0"/>
              <a:cs typeface="Georgia" panose="02040502050405020303" charset="0"/>
            </a:endParaRPr>
          </a:p>
        </p:txBody>
      </p:sp>
      <p:sp>
        <p:nvSpPr>
          <p:cNvPr id="3" name="Content Placeholder 2"/>
          <p:cNvSpPr>
            <a:spLocks noGrp="1"/>
          </p:cNvSpPr>
          <p:nvPr>
            <p:ph idx="1"/>
          </p:nvPr>
        </p:nvSpPr>
        <p:spPr/>
        <p:txBody>
          <a:bodyPr/>
          <a:lstStyle/>
          <a:p>
            <a:pPr marL="0" indent="0">
              <a:buNone/>
            </a:pPr>
            <a:r>
              <a:rPr>
                <a:latin typeface="Georgia" panose="02040502050405020303" charset="0"/>
                <a:cs typeface="Georgia" panose="02040502050405020303" charset="0"/>
              </a:rPr>
              <a:t>We have successfully built various houses and boreholes that meet the satisfaction of our clients, reflecting our commitment to quality and excellence.</a:t>
            </a:r>
            <a:endParaRPr>
              <a:latin typeface="Georgia" panose="02040502050405020303" charset="0"/>
              <a:cs typeface="Georgia" panose="02040502050405020303"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latin typeface="Georgia" panose="02040502050405020303" charset="0"/>
                <a:cs typeface="Georgia" panose="02040502050405020303" charset="0"/>
              </a:rPr>
              <a:t>Evidence of Registration</a:t>
            </a:r>
            <a:endParaRPr b="1">
              <a:latin typeface="Georgia" panose="02040502050405020303" charset="0"/>
              <a:cs typeface="Georgia" panose="02040502050405020303" charset="0"/>
            </a:endParaRPr>
          </a:p>
        </p:txBody>
      </p:sp>
      <p:pic>
        <p:nvPicPr>
          <p:cNvPr id="6" name="Content Placeholder 5"/>
          <p:cNvPicPr>
            <a:picLocks noChangeAspect="1"/>
          </p:cNvPicPr>
          <p:nvPr>
            <p:ph sz="half" idx="1"/>
          </p:nvPr>
        </p:nvPicPr>
        <p:blipFill>
          <a:blip r:embed="rId1"/>
          <a:stretch>
            <a:fillRect/>
          </a:stretch>
        </p:blipFill>
        <p:spPr>
          <a:xfrm>
            <a:off x="680720" y="1600200"/>
            <a:ext cx="3590925" cy="4526280"/>
          </a:xfrm>
          <a:prstGeom prst="rect">
            <a:avLst/>
          </a:prstGeom>
        </p:spPr>
      </p:pic>
      <p:pic>
        <p:nvPicPr>
          <p:cNvPr id="10" name="Content Placeholder 9" descr="CamScanner 12-19-2024 21.02"/>
          <p:cNvPicPr>
            <a:picLocks noChangeAspect="1"/>
          </p:cNvPicPr>
          <p:nvPr>
            <p:ph sz="half" idx="2"/>
          </p:nvPr>
        </p:nvPicPr>
        <p:blipFill>
          <a:blip r:embed="rId2"/>
          <a:stretch>
            <a:fillRect/>
          </a:stretch>
        </p:blipFill>
        <p:spPr>
          <a:xfrm>
            <a:off x="4838065" y="1600200"/>
            <a:ext cx="3453765" cy="45262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endParaRPr lang="en-US"/>
          </a:p>
        </p:txBody>
      </p:sp>
      <p:pic>
        <p:nvPicPr>
          <p:cNvPr id="7" name="Content Placeholder 6"/>
          <p:cNvPicPr>
            <a:picLocks noChangeAspect="1"/>
          </p:cNvPicPr>
          <p:nvPr>
            <p:ph idx="1"/>
          </p:nvPr>
        </p:nvPicPr>
        <p:blipFill>
          <a:blip r:embed="rId1"/>
          <a:stretch>
            <a:fillRect/>
          </a:stretch>
        </p:blipFill>
        <p:spPr>
          <a:xfrm>
            <a:off x="1471295" y="1648460"/>
            <a:ext cx="6200775" cy="44291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1386205" y="1600200"/>
            <a:ext cx="6370320" cy="45262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latin typeface="Georgia" panose="02040502050405020303" charset="0"/>
                <a:cs typeface="Georgia" panose="02040502050405020303" charset="0"/>
              </a:rPr>
              <a:t>Contact Information</a:t>
            </a:r>
            <a:endParaRPr b="1">
              <a:latin typeface="Georgia" panose="02040502050405020303" charset="0"/>
              <a:cs typeface="Georgia" panose="02040502050405020303" charset="0"/>
            </a:endParaRPr>
          </a:p>
        </p:txBody>
      </p:sp>
      <p:sp>
        <p:nvSpPr>
          <p:cNvPr id="3" name="Content Placeholder 2"/>
          <p:cNvSpPr>
            <a:spLocks noGrp="1"/>
          </p:cNvSpPr>
          <p:nvPr>
            <p:ph idx="1"/>
          </p:nvPr>
        </p:nvSpPr>
        <p:spPr/>
        <p:txBody>
          <a:bodyPr/>
          <a:lstStyle/>
          <a:p>
            <a:r>
              <a:rPr>
                <a:latin typeface="Georgia" panose="02040502050405020303" charset="0"/>
                <a:cs typeface="Georgia" panose="02040502050405020303" charset="0"/>
              </a:rPr>
              <a:t>Email: finitemax21@gmail.com</a:t>
            </a:r>
            <a:endParaRPr>
              <a:latin typeface="Georgia" panose="02040502050405020303" charset="0"/>
              <a:cs typeface="Georgia" panose="02040502050405020303" charset="0"/>
            </a:endParaRPr>
          </a:p>
          <a:p>
            <a:r>
              <a:rPr>
                <a:latin typeface="Georgia" panose="02040502050405020303" charset="0"/>
                <a:cs typeface="Georgia" panose="02040502050405020303" charset="0"/>
              </a:rPr>
              <a:t>Phone Numbers: +2348161780829, +2348033709970, +2348093931717</a:t>
            </a:r>
            <a:endParaRPr>
              <a:latin typeface="Georgia" panose="02040502050405020303" charset="0"/>
              <a:cs typeface="Georgia" panose="02040502050405020303" charset="0"/>
            </a:endParaRPr>
          </a:p>
          <a:p>
            <a:r>
              <a:rPr>
                <a:latin typeface="Georgia" panose="02040502050405020303" charset="0"/>
                <a:cs typeface="Georgia" panose="02040502050405020303" charset="0"/>
              </a:rPr>
              <a:t>Social Media:</a:t>
            </a:r>
            <a:endParaRPr>
              <a:latin typeface="Georgia" panose="02040502050405020303" charset="0"/>
              <a:cs typeface="Georgia" panose="02040502050405020303" charset="0"/>
            </a:endParaRPr>
          </a:p>
          <a:p>
            <a:r>
              <a:rPr>
                <a:latin typeface="Georgia" panose="02040502050405020303" charset="0"/>
                <a:cs typeface="Georgia" panose="02040502050405020303" charset="0"/>
              </a:rPr>
              <a:t>Facebook: FiniteMax</a:t>
            </a:r>
            <a:endParaRPr>
              <a:latin typeface="Georgia" panose="02040502050405020303" charset="0"/>
              <a:cs typeface="Georgia" panose="02040502050405020303" charset="0"/>
            </a:endParaRPr>
          </a:p>
          <a:p>
            <a:r>
              <a:rPr>
                <a:latin typeface="Georgia" panose="02040502050405020303" charset="0"/>
                <a:cs typeface="Georgia" panose="02040502050405020303" charset="0"/>
              </a:rPr>
              <a:t>Twitter: @FiniteMax</a:t>
            </a:r>
            <a:endParaRPr>
              <a:latin typeface="Georgia" panose="02040502050405020303" charset="0"/>
              <a:cs typeface="Georgia" panose="02040502050405020303" charset="0"/>
            </a:endParaRPr>
          </a:p>
          <a:p>
            <a:r>
              <a:rPr>
                <a:latin typeface="Georgia" panose="02040502050405020303" charset="0"/>
                <a:cs typeface="Georgia" panose="02040502050405020303" charset="0"/>
              </a:rPr>
              <a:t>Instagram: FiniteMax</a:t>
            </a:r>
            <a:endParaRPr>
              <a:latin typeface="Georgia" panose="02040502050405020303" charset="0"/>
              <a:cs typeface="Georgia" panose="02040502050405020303"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latin typeface="Georgia" panose="02040502050405020303" charset="0"/>
                <a:cs typeface="Georgia" panose="02040502050405020303" charset="0"/>
              </a:rPr>
              <a:t>Future Plans</a:t>
            </a:r>
            <a:endParaRPr b="1">
              <a:latin typeface="Georgia" panose="02040502050405020303" charset="0"/>
              <a:cs typeface="Georgia" panose="02040502050405020303" charset="0"/>
            </a:endParaRPr>
          </a:p>
        </p:txBody>
      </p:sp>
      <p:sp>
        <p:nvSpPr>
          <p:cNvPr id="3" name="Content Placeholder 2"/>
          <p:cNvSpPr>
            <a:spLocks noGrp="1"/>
          </p:cNvSpPr>
          <p:nvPr>
            <p:ph idx="1"/>
          </p:nvPr>
        </p:nvSpPr>
        <p:spPr/>
        <p:txBody>
          <a:bodyPr/>
          <a:lstStyle/>
          <a:p>
            <a:pPr marL="0" indent="0">
              <a:buNone/>
            </a:pPr>
            <a:r>
              <a:rPr>
                <a:latin typeface="Georgia" panose="02040502050405020303" charset="0"/>
                <a:cs typeface="Georgia" panose="02040502050405020303" charset="0"/>
              </a:rPr>
              <a:t>As we grow, we are committed to expanding our portfolio to include sustainable building practices that contribute to a greener future.</a:t>
            </a:r>
            <a:endParaRPr>
              <a:latin typeface="Georgia" panose="02040502050405020303" charset="0"/>
              <a:cs typeface="Georgia" panose="02040502050405020303"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latin typeface="Georgia" panose="02040502050405020303" charset="0"/>
                <a:cs typeface="Georgia" panose="02040502050405020303" charset="0"/>
              </a:rPr>
              <a:t>Conclusion</a:t>
            </a:r>
            <a:endParaRPr b="1">
              <a:latin typeface="Georgia" panose="02040502050405020303" charset="0"/>
              <a:cs typeface="Georgia" panose="02040502050405020303" charset="0"/>
            </a:endParaRPr>
          </a:p>
        </p:txBody>
      </p:sp>
      <p:sp>
        <p:nvSpPr>
          <p:cNvPr id="3" name="Content Placeholder 2"/>
          <p:cNvSpPr>
            <a:spLocks noGrp="1"/>
          </p:cNvSpPr>
          <p:nvPr>
            <p:ph idx="1"/>
          </p:nvPr>
        </p:nvSpPr>
        <p:spPr/>
        <p:txBody>
          <a:bodyPr/>
          <a:lstStyle/>
          <a:p>
            <a:pPr marL="0" indent="0">
              <a:buNone/>
            </a:pPr>
            <a:r>
              <a:rPr>
                <a:latin typeface="Georgia" panose="02040502050405020303" charset="0"/>
                <a:cs typeface="Georgia" panose="02040502050405020303" charset="0"/>
              </a:rPr>
              <a:t>We invite you to partner with FiniteMax Integrated Services Limited, where your vision becomes our priority, and together, we can achieve remarkable results.</a:t>
            </a:r>
            <a:endParaRPr>
              <a:latin typeface="Georgia" panose="02040502050405020303" charset="0"/>
              <a:cs typeface="Georgia" panose="02040502050405020303" charset="0"/>
            </a:endParaRPr>
          </a:p>
        </p:txBody>
      </p:sp>
    </p:spTree>
  </p:cSld>
  <p:clrMapOvr>
    <a:masterClrMapping/>
  </p:clrMapOvr>
</p:sld>
</file>

<file path=ppt/theme/theme1.xml><?xml version="1.0" encoding="utf-8"?>
<a:theme xmlns:a="http://schemas.openxmlformats.org/drawingml/2006/main" name="Business Cooperate">
  <a:themeElements>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siness Cooperate">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siness Cooper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usiness Cooper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usiness Cooper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usiness Cooper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usiness Cooper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usiness Cooper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usiness Cooper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usiness Cooper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usiness Cooper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usiness Cooper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usiness Cooper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